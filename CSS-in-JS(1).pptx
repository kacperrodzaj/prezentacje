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3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6434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Dzień dobry. Nazywam się [imię i nazwisko]. Temat mojej prezentacji to CSS-in-JS, czyli sposób pisania stylów CSS bezpośrednio w kodzie JavaScript. Omówię trzy najważniejsze biblioteki z tej rodziny: Styled Components, Emotion oraz Stitches. Pokażę po co one powstały, jak się ich używa na konkretnych przykładach kodu, czym się różnią, a na końcu powiem, kiedy warto je stosować, a kiedy lepiej wybrać coś innego.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Zacznijmy od podstaw — czym w ogóle jest CSS-in-JS. To technika, w której style danego komponentu piszemy bezpośrednio w jego pliku JavaScript, zamiast w osobnym pliku CSS. Po lewej widzimy podejście klasyczne: mamy osobny plik ze stylami i osobny plik z komponentem, a nazwy klas obowiązują w całej aplikacji. Po prawej CSS-in-JS: wszystko jest w jednym miejscu i każdy komponent ma swoje własne style, które nie wyciekają na inne elementy. Na samym dole mamy to ujęte najprościej: zamiast tworzyć klasę i pamiętać o jej podpięciu, tworzymy gotowy komponent, który ma styl już wbudowany w siebie, i po prostu go używamy.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Skoro wiemy już czym jest CSS-in-JS, zobaczmy jaki konkretnie problem rozwiązuje. Mamy tu trzy najczęstsze bolączki klasycznego CSS. Pierwszy: kolizje nazw klas. W zwykłym CSS wszystkie klasy są globalne, więc dwie klasy o tej samej nazwie potrafią się nadpisać i popsuć wygląd strony. CSS-in-JS rozwiązuje to tak, że każdemu komponentowi nadaje automatycznie unikalną nazwę klasy, więc kolizja jest po prostu niemożliwa. Drugi problem: martwy CSS. Po dłuższym czasie nie wiemy, które style są jeszcze używane i boimy się je kasować. Tutaj styl jest przypięty do komponentu, więc gdy usuwamy komponent, jego style znikają razem z nim. Trzeci: style zależne od stanu. W klasycznym CSS musimy ręcznie doklejać i odklejać klasy. W CSS-in-JS styl może wprost zależeć od propsów komponentu, bo piszemy go w JavaScripcie. Do tego ostatniego punktu jeszcze wrócimy z konkretnym przykładem.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Teraz przedstawię trzy biblioteki, które będę omawiać. Wszystkie robią to samo — pozwalają pisać CSS w JavaScripcie — ale każda trochę inaczej. Pierwsza, Styled Components, to pionier i najpopularniejsza z nich. Style pisze się w niej w tak zwanych tagowanych szablonach, czyli między znakami backtick. Ma najwięcej materiałów w internecie, ale od 2024 roku jest w trybie maintenance, czyli nie dostaje już nowych funkcji. Druga, Emotion, jest szybsza i bardziej elastyczna — daje dwa sposoby pisania stylów i jest używana między innymi przez popularną bibliotekę Material UI. Trzecia, Stitches, stawia na wydajność: większość pracy wykonuje już na etapie budowania aplikacji, a nie w przeglądarce. Ma też świetne wsparcie dla wariantów komponentu. Niestety nie jest rozwijana od 2023 roku. Do statusu tych projektów wrócę pod koniec, bo to ważne przy wyborze.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Przechodzimy do praktyki — jak w ogóle zacząć. Instalacja jest prosta: to jedna komenda npm install w terminalu. Dla Styled Components instalujemy paczkę styled-components. Dla Emotion dwie paczki: emotion/react i emotion/styled. Dla Stitches instalujemy stitches/react. Różnica jest taka, że w Styled Components i Emotion po instalacji od razu zaczynamy pisać komponenty. W Stitches robimy jeden dodatkowy krok na początku: tworzymy plik konfiguracyjny przez funkcję createStitches, gdzie definiujemy nasz motyw — czyli kolory, odstępy, czcionki. Ta funkcja zwraca nam gotowe narzędzia styled i css, których potem używamy w całym projekcie. Dolny pasek podsumowuje tę różnicę jednym zdaniem.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jest nasz pierwszy, najprostszy przykład. Tworzymy przycisk. Najpierw importujemy styled z biblioteki. Potem piszemy: const Button równa się styled kropka button, a po backticku wpisujemy zwykły CSS — padding, kolor tła, kolor tekstu, zaokrąglenie rogów. To, co powstaje, czyli Button z dużej litery, jest gotowym komponentem, którego używamy w kodzie dokładnie tak jak zwykłego znacznika HTML — piszemy otwierający Button, tekst Zapisz i zamykający Button. Po prawej rozpisałem to w trzech krokach: styled.button tworzy komponent na bazie zwykłego buttona, między backtickami piszemy normalny CSS, a gotowy komponent wstawiamy do aplikacji. Efektem jest różowy przycisk z napisem Zapisz, a jego style dotyczą wyłącznie jego — nie wyciekną na inne elementy strony.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 sam przycisk można zrobić jeszcze inaczej — i to pokazuje Emotion. Zamiast tworzyć osobny komponent Button, bierzemy zwykły znacznik button i dopisujemy do niego atrybut css, w którym podajemy style. Pierwsza linijka z komentarzem na górze to wymóg techniczny Emotion, żeby ten atrybut css w ogóle działał. Reszta jest prosta: w css piszemy padding i tło, dokładnie jak wcześniej. Po prawej tłumaczę, kiedy co wybrać. styled stosujemy, gdy ten sam element — przycisk, kartę — używamy w wielu miejscach: tworzymy go raz i wszędzie wstawiamy. Prop css stosujemy, gdy chcemy szybko ostylować jeden konkretny element i nie opłaca się robić dla niego osobnego komponentu. Najważniejsze: oba sposoby dają identyczny efekt i oba w tle tworzą unikalną klasę, więc kolizje nadal nam nie grożą.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moim zdaniem najważniejszy slajd, bo pokazuje, po co tak naprawdę sięgamy po CSS-in-JS. Chcemy mieć jeden przycisk, który raz jest różowy, a raz szary, w zależności od sytuacji. Patrzymy na kod: w miejscu koloru tła i koloru tekstu, zamiast wpisać sztywną wartość, wstawiamy małą funkcję. Ta funkcja dostaje propsy przycisku i mówi: jeśli przycisk ma prop primary, daj kolor różowy, a jeśli nie — szary. Na dole widać użycie: pierwszy Button ma dopisane primary, więc wyjdzie różowy, drugi nie ma, więc wyjdzie szary. Po prawej mamy podgląd obu wariantów. Klucz jest taki: to jest jeden komponent, a nie dwa. W klasycznym CSS musielibyśmy zrobić dwie klasy i ręcznie pilnować, którą podpiąć. Tutaj o wyglądzie decyduje prop. Dodam jeszcze, że znak dolara przed nazwą to przyjęta konwencja — oznacza prop, który służy tylko do stylowania.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Kolejna ważna funkcja to motywy, czyli theming. Motyw to po prostu wspólny zestaw kolorów, odstępów i czcionek dla całej aplikacji. Patrzymy na kod krok po kroku. Krok pierwszy: definiujemy motyw jako zwykły obiekt JavaScript — tutaj motyw ciemny, z kolorem tła i kolorem tekstu. Krok drugi: komponent, w tym wypadku Card, zamiast sztywnego koloru czyta kolor z motywu przez zapis p kropka theme kropka bg. Krok trzeci, na dole slajdu: owijamy naszą aplikację specjalnym komponentem ThemeProvider i podajemy mu motyw. Od tego momentu każdy komponent w środku ma dostęp do tych kolorów. Po co to wszystko? Najlepszy przykład jest po prawej: jeśli klient poprosi o zmianę głównego koloru, poprawiamy go raz w motywie i zmiana obejmuje całą aplikację. A ciemny tryb to po prostu drugi taki obiekt z kolorami — podmieniamy motyw i cała strona zmienia wygląd.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Pokażę teraz jedną funkcję zaawansowaną, którą szczególnie dobrze rozwiązuje Stitches — czyli warianty. Wariant to gotowa wersja komponentu, na przykład rozmiar mały albo duży. W kodzie widzimy, że przy tworzeniu przycisku dodajemy sekcję variants. W niej definiujemy wariant o nazwie size, a w nim dwie opcje: sm, czyli mały, z mniejszym paddingiem, oraz lg, czyli duży, z większym. Na dole widać, jak tego używamy — piszemy po prostu Button size równa się lg i dostajemy duży przycisk. Po prawej tłumaczę, czemu to wygodne: wersje definiujemy tylko raz, a potem wybieramy je jednym krótkim zapisem, bez pisania żadnych warunków if. Dodatkowo edytor kodu podpowiada nam, jakie opcje są dostępne, więc ciężej o literówkę czy błąd. W skrócie — mamy gotowy katalog wersji komponentu i tylko sięgamy po właściwą.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Przy porównywaniu bibliotek pojawiają się dwa pojęcia, które chcę krótko wytłumaczyć, żeby reszta była jasna. Pierwsze, po lewej: runtime kontra zero-runtime. Runtime znaczy, że style są wyliczane w przeglądarce, kiedy strona już działa — tak robią Styled Components i Emotion. Jest to wygodne, ale przy naprawdę dużych aplikacjach trochę kosztuje wydajności. Zero-runtime, jak w Stitches, znaczy, że większość stylów jest przygotowana wcześniej, na etapie budowania aplikacji, więc przeglądarka ma mniej pracy i działa szybciej. Drugie pojęcie, po prawej: SSR, czyli renderowanie po stronie serwera. Oznacza ono, że gotowa, już ostylowana strona powstaje na serwerze i trafia do przeglądarki w komplecie. Dzięki temu strona pojawia się szybciej i nie ma efektu migania, gdy style doczytują się z opóźnieniem. Warto wiedzieć, że wszystkie trzy biblioteki wspierają SSR, tylko konfiguruje się to u każdej trochę inaczej.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Teraz uczciwie o wadach, bo CSS-in-JS nie jest rozwiązaniem na wszystko. Po lewej trzy główne minusy. Pierwszy: kosztuje wydajność — wyliczanie stylów w przeglądarce obciąża aplikację i przy dużych projektach bywa to odczuwalne. Drugi: problem z nowym Reactem. React poszedł w stronę Server Components, a klasyczne CSS-in-JS słabo z nimi współpracuje. Trzeci: większa paczka do pobrania — sama biblioteka i style zapisane w JavaScripcie powiększają plik, który ściąga użytkownik. Po prawej, w ciemnej ramce, mamy bardzo ważną rzecz przy wyborze — aktualny status tych projektów. Styled Components od 2024 jest w trybie maintenance, czyli dostaje już tylko poprawki błędów, bez nowych funkcji. Stitches nie jest rozwijany od 2023 i nie nadąża za nowymi wersjami Reacta. Emotion jako jedyny jest dalej utrzymywany, ale i on ma trudności z nowym modelem Server Components. To nas prowadzi prosto do rekomendacji na kolejnym slajdzie.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Podsumujmy praktycznie: kiedy w ogóle warto sięgać po CSS-in-JS. Po lewej, na zielono, sytuacje sprzyjające. Po pierwsze, gdy aplikacja działa głównie w przeglądarce — na przykład projekt postawiony na Vite albo Create React App. Po drugie, gdy wygląd komponentów mocno zależy od ich stanu i propsów, czyli wracamy do tego różowo-szarego przycisku. Po trzecie, gdy zależy nam na motywach i szybkim prototypowaniu. I po czwarte, gdy zespół już zna daną bibliotekę i ma działający projekt — wtedy nie ma sensu nic zmieniać. Po prawej, na czerwono, sytuacje, gdy lepiej wybrać coś innego. Gdy projekt opiera się na nowym Next.js z App Routerem i Server Components. Gdy najważniejsza jest wydajność i mały rozmiar aplikacji. Oraz gdy zaczynamy zupełnie nowy projekt w 2025 i chcemy postawić na rozwiązanie z przyszłością. Czym wtedy zastąpić? Najczęściej Tailwindem, CSS Modules albo vanilla-extract — to nowsze podejścia, które nie obciążają przeglądarki.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Zanim przejdę do podsumowania, kilka dobrych praktyk, które warto stosować, jeśli ktoś będzie używał CSS-in-JS. Po pierwsze, trzymajmy kolory, odstępy i czcionki w motywie, a nie wpisujmy ich na sztywno w każdym komponencie — wtedy łatwo zmienić cokolwiek w całej aplikacji. Po drugie, budujmy małe, proste komponenty i je łączmy, zamiast kopiować te same style w wielu miejscach. Po trzecie, łączmy bibliotekę z TypeScriptem — dzięki temu edytor podpowiada nam wartości i wyłapuje błędy, zanim w ogóle uruchomimy stronę. I po czwarte, techniczna, ale ważna rada: komponenty styled definiujmy na górze pliku, a nie w środku innego komponentu, bo inaczej aplikacja niepotrzebnie zwalnia. To częsty błąd początkujących.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koniec podsumowanie w trzech punktach. Pierwszy: CSS-in-JS pozwala pisać style razem z komponentem, automatycznie nadaje unikalne klasy, więc znikają kolizje nazw, i umożliwia style zależne od propsów. Drugi: Styled Components i Emotion to klasyka działająca w przeglądarce, a Stitches stawiał na wydajność i wygodne warianty. Trzeci: ekosystem Reacta zmienił kierunek — dziś z naszej trójki tylko Emotion jest aktywnie rozwijany, a do zupełnie nowych projektów coraz częściej wybiera się inne narzędzia. Stąd moja rekomendacja w ramce na dole: do istniejących projektów działających w przeglądarce poleciłbym Emotion, bo jest najbezpieczniejszy — wciąż jest utrzymywany. Natomiast do nowych projektów, zwłaszcza opartych na Next.js, warto rozważyć Tailwind CSS albo CSS Modules, które nie obciążają przeglądarki. To wszystko z mojej strony — dziękuję i chętnie odpowiem na pytania.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B1E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67160" y="0"/>
            <a:ext cx="594360" cy="1828800"/>
          </a:xfrm>
          <a:prstGeom prst="rect">
            <a:avLst/>
          </a:prstGeom>
          <a:solidFill>
            <a:srgbClr val="C2185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05740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CSS-in-JS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868680" y="33375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E073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Styled Components  ·  Emotion  ·  Stitches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68680" y="4114800"/>
            <a:ext cx="2926080" cy="0"/>
          </a:xfrm>
          <a:prstGeom prst="line">
            <a:avLst/>
          </a:prstGeom>
          <a:noFill/>
          <a:ln w="31750">
            <a:solidFill>
              <a:srgbClr val="C218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42519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D9C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Prezentacja zaliczeniowa — biblioteki do stylowania w ekosystemie React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58978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l-PL" sz="16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Kacper Rodzaj </a:t>
            </a:r>
            <a:endParaRPr lang="en-US" sz="16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0" y="566928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5B1E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Czym jest CSS-in-JS?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1475720" y="256032"/>
            <a:ext cx="292608" cy="713232"/>
          </a:xfrm>
          <a:prstGeom prst="rect">
            <a:avLst/>
          </a:prstGeom>
          <a:solidFill>
            <a:srgbClr val="C2185B"/>
          </a:solidFill>
          <a:ln/>
        </p:spPr>
      </p:sp>
      <p:sp>
        <p:nvSpPr>
          <p:cNvPr id="4" name="Text 2"/>
          <p:cNvSpPr/>
          <p:nvPr/>
        </p:nvSpPr>
        <p:spPr>
          <a:xfrm>
            <a:off x="10881360" y="329184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073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500" dirty="0">
                <a:solidFill>
                  <a:srgbClr val="2A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CSS-in-JS to podejście, w którym style komponentu piszemy razem z jego kodem JavaScript, a nie w osobnym pliku .css.
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5C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Dzięki temu jeden komponent zawiera w jednym miejscu trzy rzeczy: swój wygląd (style), swoją strukturę (HTML/JSX) i swoją logikę (JavaScript). Nie musimy przełączać się między plikami.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534924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4688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218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Klasyczny CSS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83464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C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trzymamy w osobnym pliku .css. Komponent i jego wygląd są w dwóch różnych miejscach, a klasy działają globalnie w całej aplikacji.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2331720"/>
            <a:ext cx="534924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92240" y="24688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218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CSS-in-JS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92240" y="283464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C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piszemy w pliku komponentu (.js / .tsx). Wygląd, struktura i logika są razem, a każdy komponent dostaje własne, odizolowane style.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11064240" cy="1005840"/>
          </a:xfrm>
          <a:prstGeom prst="rect">
            <a:avLst/>
          </a:prstGeom>
          <a:solidFill>
            <a:srgbClr val="FBF6F9"/>
          </a:solidFill>
          <a:ln/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4114800"/>
            <a:ext cx="91440" cy="1005840"/>
          </a:xfrm>
          <a:prstGeom prst="rect">
            <a:avLst/>
          </a:prstGeom>
          <a:solidFill>
            <a:srgbClr val="E0739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2062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5C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Mówiąc najprościej: zamiast pisać klasę „.button” w pliku styles.css i pamiętać, żeby ją podpiąć do przycisku, tworzymy gotowy komponent „Button”, który ma swoje style już w sobie. Importujemy go i od razu używamy.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5B1E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Jaki problem rozwiązuje?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1475720" y="256032"/>
            <a:ext cx="292608" cy="713232"/>
          </a:xfrm>
          <a:prstGeom prst="rect">
            <a:avLst/>
          </a:prstGeom>
          <a:solidFill>
            <a:srgbClr val="C2185B"/>
          </a:solidFill>
          <a:ln/>
        </p:spPr>
      </p:sp>
      <p:sp>
        <p:nvSpPr>
          <p:cNvPr id="4" name="Text 2"/>
          <p:cNvSpPr/>
          <p:nvPr/>
        </p:nvSpPr>
        <p:spPr>
          <a:xfrm>
            <a:off x="10881360" y="329184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073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5C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Klasyczny CSS przy dużych projektach ma kilka uciążliwych problemów. CSS-in-JS powstał właśnie po to, żeby je rozwiązać.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106424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91640"/>
            <a:ext cx="91440" cy="1325880"/>
          </a:xfrm>
          <a:prstGeom prst="rect">
            <a:avLst/>
          </a:prstGeom>
          <a:solidFill>
            <a:srgbClr val="C2185B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801368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5B1E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Kolizje nazw klas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886200" y="1801368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 </a:t>
            </a:r>
            <a:r>
              <a:rPr lang="en-US" sz="1250" dirty="0">
                <a:solidFill>
                  <a:srgbClr val="5C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klasycznym CSS wszystkie klasy są globalne. Dwie klasy o tej samej nazwie w różnych plikach nadpisują się nawzajem i psują wygląd.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680960" y="1801368"/>
            <a:ext cx="3703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3F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Rozwiązanie:  </a:t>
            </a:r>
            <a:r>
              <a:rPr lang="en-US" sz="1250" dirty="0">
                <a:solidFill>
                  <a:srgbClr val="5C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Każdy komponent dostaje automatycznie wygenerowaną, unikalną nazwę klasy — kolizje są niemożliwe.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154680"/>
            <a:ext cx="1106424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3154680"/>
            <a:ext cx="91440" cy="1325880"/>
          </a:xfrm>
          <a:prstGeom prst="rect">
            <a:avLst/>
          </a:prstGeom>
          <a:solidFill>
            <a:srgbClr val="C2185B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264408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5B1E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Martwy, nieużywany CSS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886200" y="3264408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 </a:t>
            </a:r>
            <a:r>
              <a:rPr lang="en-US" sz="1250" dirty="0">
                <a:solidFill>
                  <a:srgbClr val="5C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miesiącach pracy trudno stwierdzić, które reguły CSS są jeszcze potrzebne. Boimy się je usuwać, więc plik rośnie.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680960" y="3264408"/>
            <a:ext cx="3703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3F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Rozwiązanie:  </a:t>
            </a:r>
            <a:r>
              <a:rPr lang="en-US" sz="1250" dirty="0">
                <a:solidFill>
                  <a:srgbClr val="5C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 należy do komponentu. Gdy usuwamy komponent, znikają też jego style — nic nie zostaje na zapas.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617720"/>
            <a:ext cx="1106424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4617720"/>
            <a:ext cx="91440" cy="1325880"/>
          </a:xfrm>
          <a:prstGeom prst="rect">
            <a:avLst/>
          </a:prstGeom>
          <a:solidFill>
            <a:srgbClr val="C2185B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727448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5B1E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Style zależne od stanu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886200" y="4727448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 </a:t>
            </a:r>
            <a:r>
              <a:rPr lang="en-US" sz="1250" dirty="0">
                <a:solidFill>
                  <a:srgbClr val="5C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Zmiana wyglądu w zależności od sytuacji (np. przycisk aktywny / nieaktywny) wymaga ręcznego doklejania i odklejania klas.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680960" y="4727448"/>
            <a:ext cx="3703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3F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Rozwiązanie:  </a:t>
            </a:r>
            <a:r>
              <a:rPr lang="en-US" sz="1250" dirty="0">
                <a:solidFill>
                  <a:srgbClr val="5C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 może zależeć wprost od propsów i stanu komponentu, bo piszemy go w JavaScripcie.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5B1E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Trzy biblioteki, które omawiamy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1475720" y="256032"/>
            <a:ext cx="292608" cy="713232"/>
          </a:xfrm>
          <a:prstGeom prst="rect">
            <a:avLst/>
          </a:prstGeom>
          <a:solidFill>
            <a:srgbClr val="C2185B"/>
          </a:solidFill>
          <a:ln/>
        </p:spPr>
      </p:sp>
      <p:sp>
        <p:nvSpPr>
          <p:cNvPr id="4" name="Text 2"/>
          <p:cNvSpPr/>
          <p:nvPr/>
        </p:nvSpPr>
        <p:spPr>
          <a:xfrm>
            <a:off x="10881360" y="329184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073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C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Wszystkie trzy realizują ten sam pomysł, ale w trochę inny sposób. Oto one w skrócie: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3593592" cy="4617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3593592" cy="109728"/>
          </a:xfrm>
          <a:prstGeom prst="rect">
            <a:avLst/>
          </a:prstGeom>
          <a:solidFill>
            <a:srgbClr val="C2185B"/>
          </a:solidFill>
          <a:ln/>
        </p:spPr>
      </p:sp>
      <p:sp>
        <p:nvSpPr>
          <p:cNvPr id="8" name="Shape 6"/>
          <p:cNvSpPr/>
          <p:nvPr/>
        </p:nvSpPr>
        <p:spPr>
          <a:xfrm>
            <a:off x="1961388" y="1965960"/>
            <a:ext cx="768096" cy="768096"/>
          </a:xfrm>
          <a:prstGeom prst="ellipse">
            <a:avLst/>
          </a:prstGeom>
          <a:solidFill>
            <a:srgbClr val="F7F2F5"/>
          </a:solidFill>
          <a:ln w="19050">
            <a:solidFill>
              <a:srgbClr val="E0739F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6836" y="2121408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" y="2788920"/>
            <a:ext cx="3374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5B1E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Styled Components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58368" y="3182112"/>
            <a:ext cx="3374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Pionier i najpopularniejsza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22960" y="3611880"/>
            <a:ext cx="309067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A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piszemy w „tagowanych szablonach” (znaki ` `)</a:t>
            </a:r>
            <a:endParaRPr lang="en-US" sz="1250" dirty="0"/>
          </a:p>
          <a:p>
            <a:pPr marL="342900" indent="-342900" algn="l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A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Najwięcej kursów, odpowiedzi i materiałów w sieci</a:t>
            </a:r>
            <a:endParaRPr lang="en-US" sz="1250" dirty="0"/>
          </a:p>
          <a:p>
            <a:pPr marL="342900" indent="-342900" algn="l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A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 2024 w trybie maintenance — bez nowych funkcji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370832" y="1645920"/>
            <a:ext cx="3593592" cy="4617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370832" y="1645920"/>
            <a:ext cx="3593592" cy="109728"/>
          </a:xfrm>
          <a:prstGeom prst="rect">
            <a:avLst/>
          </a:prstGeom>
          <a:solidFill>
            <a:srgbClr val="C2185B"/>
          </a:solidFill>
          <a:ln/>
        </p:spPr>
      </p:sp>
      <p:sp>
        <p:nvSpPr>
          <p:cNvPr id="15" name="Shape 12"/>
          <p:cNvSpPr/>
          <p:nvPr/>
        </p:nvSpPr>
        <p:spPr>
          <a:xfrm>
            <a:off x="5783580" y="1965960"/>
            <a:ext cx="768096" cy="768096"/>
          </a:xfrm>
          <a:prstGeom prst="ellipse">
            <a:avLst/>
          </a:prstGeom>
          <a:solidFill>
            <a:srgbClr val="F7F2F5"/>
          </a:solidFill>
          <a:ln w="19050">
            <a:solidFill>
              <a:srgbClr val="E0739F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9028" y="2121408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480560" y="2788920"/>
            <a:ext cx="3374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5B1E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Emotion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4480560" y="3182112"/>
            <a:ext cx="3374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Szybsza i elastyczniejsza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4645152" y="3611880"/>
            <a:ext cx="309067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A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Dwa style pisania: styled oraz prop css</a:t>
            </a:r>
            <a:endParaRPr lang="en-US" sz="1250" dirty="0"/>
          </a:p>
          <a:p>
            <a:pPr marL="342900" indent="-342900" algn="l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A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Wydajniejsza od Styled Components</a:t>
            </a:r>
            <a:endParaRPr lang="en-US" sz="1250" dirty="0"/>
          </a:p>
          <a:p>
            <a:pPr marL="342900" indent="-342900" algn="l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A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Używana m.in. przez bibliotekę Material UI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8193024" y="1645920"/>
            <a:ext cx="3593592" cy="4617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193024" y="1645920"/>
            <a:ext cx="3593592" cy="109728"/>
          </a:xfrm>
          <a:prstGeom prst="rect">
            <a:avLst/>
          </a:prstGeom>
          <a:solidFill>
            <a:srgbClr val="C2185B"/>
          </a:solidFill>
          <a:ln/>
        </p:spPr>
      </p:sp>
      <p:sp>
        <p:nvSpPr>
          <p:cNvPr id="22" name="Shape 18"/>
          <p:cNvSpPr/>
          <p:nvPr/>
        </p:nvSpPr>
        <p:spPr>
          <a:xfrm>
            <a:off x="9605772" y="1965960"/>
            <a:ext cx="768096" cy="768096"/>
          </a:xfrm>
          <a:prstGeom prst="ellipse">
            <a:avLst/>
          </a:prstGeom>
          <a:solidFill>
            <a:srgbClr val="F7F2F5"/>
          </a:solidFill>
          <a:ln w="19050">
            <a:solidFill>
              <a:srgbClr val="E0739F"/>
            </a:solidFill>
            <a:prstDash val="solid"/>
          </a:ln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1220" y="2121408"/>
            <a:ext cx="457200" cy="4572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302752" y="2788920"/>
            <a:ext cx="3374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5B1E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Stitches</a:t>
            </a:r>
            <a:endParaRPr lang="en-US" sz="1700" dirty="0"/>
          </a:p>
        </p:txBody>
      </p:sp>
      <p:sp>
        <p:nvSpPr>
          <p:cNvPr id="25" name="Text 20"/>
          <p:cNvSpPr/>
          <p:nvPr/>
        </p:nvSpPr>
        <p:spPr>
          <a:xfrm>
            <a:off x="8302752" y="3182112"/>
            <a:ext cx="3374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Stawia na wydajność</a:t>
            </a:r>
            <a:endParaRPr lang="en-US" sz="1250" dirty="0"/>
          </a:p>
        </p:txBody>
      </p:sp>
      <p:sp>
        <p:nvSpPr>
          <p:cNvPr id="26" name="Text 21"/>
          <p:cNvSpPr/>
          <p:nvPr/>
        </p:nvSpPr>
        <p:spPr>
          <a:xfrm>
            <a:off x="8467344" y="3611880"/>
            <a:ext cx="309067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A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„Near-zero runtime” — robi większość pracy przy buildzie</a:t>
            </a:r>
            <a:endParaRPr lang="en-US" sz="1250" dirty="0"/>
          </a:p>
          <a:p>
            <a:pPr marL="342900" indent="-342900" algn="l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A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Warianty komponentu jako wbudowana funkcja</a:t>
            </a:r>
            <a:endParaRPr lang="en-US" sz="1250" dirty="0"/>
          </a:p>
          <a:p>
            <a:pPr marL="342900" indent="-342900" algn="l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A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Niestety nierozwijana od 2023 roku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5B1E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Instalacja — jak zacząć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1475720" y="256032"/>
            <a:ext cx="292608" cy="713232"/>
          </a:xfrm>
          <a:prstGeom prst="rect">
            <a:avLst/>
          </a:prstGeom>
          <a:solidFill>
            <a:srgbClr val="C2185B"/>
          </a:solidFill>
          <a:ln/>
        </p:spPr>
      </p:sp>
      <p:sp>
        <p:nvSpPr>
          <p:cNvPr id="4" name="Text 2"/>
          <p:cNvSpPr/>
          <p:nvPr/>
        </p:nvSpPr>
        <p:spPr>
          <a:xfrm>
            <a:off x="10881360" y="329184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073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972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07899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C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Żeby zacząć korzystać z biblioteki, instalujemy ją jedną komendą w terminalu. Na start nie potrzebujemy żadnej dodatkowej konfiguracji.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1691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218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Styled Components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029968"/>
            <a:ext cx="5486400" cy="868680"/>
          </a:xfrm>
          <a:prstGeom prst="rect">
            <a:avLst/>
          </a:prstGeom>
          <a:solidFill>
            <a:srgbClr val="241526"/>
          </a:solidFill>
          <a:ln/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49808" y="2212848"/>
            <a:ext cx="118872" cy="118872"/>
          </a:xfrm>
          <a:prstGeom prst="ellipse">
            <a:avLst/>
          </a:prstGeom>
          <a:solidFill>
            <a:srgbClr val="E0739F"/>
          </a:solidFill>
          <a:ln/>
        </p:spPr>
      </p:sp>
      <p:sp>
        <p:nvSpPr>
          <p:cNvPr id="10" name="Shape 7"/>
          <p:cNvSpPr/>
          <p:nvPr/>
        </p:nvSpPr>
        <p:spPr>
          <a:xfrm>
            <a:off x="987552" y="2212848"/>
            <a:ext cx="118872" cy="118872"/>
          </a:xfrm>
          <a:prstGeom prst="ellipse">
            <a:avLst/>
          </a:prstGeom>
          <a:solidFill>
            <a:srgbClr val="E8B85F"/>
          </a:solidFill>
          <a:ln/>
        </p:spPr>
      </p:sp>
      <p:sp>
        <p:nvSpPr>
          <p:cNvPr id="11" name="Shape 8"/>
          <p:cNvSpPr/>
          <p:nvPr/>
        </p:nvSpPr>
        <p:spPr>
          <a:xfrm>
            <a:off x="1225296" y="2212848"/>
            <a:ext cx="118872" cy="118872"/>
          </a:xfrm>
          <a:prstGeom prst="ellipse">
            <a:avLst/>
          </a:prstGeom>
          <a:solidFill>
            <a:srgbClr val="9FD8A0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248716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ED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</a:t>
            </a:r>
            <a:r>
              <a:rPr lang="en-US" sz="1200" dirty="0">
                <a:solidFill>
                  <a:srgbClr val="9FD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styled-components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309360" y="1691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218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Emotion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309360" y="2029968"/>
            <a:ext cx="5303520" cy="868680"/>
          </a:xfrm>
          <a:prstGeom prst="rect">
            <a:avLst/>
          </a:prstGeom>
          <a:solidFill>
            <a:srgbClr val="241526"/>
          </a:solidFill>
          <a:ln/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510528" y="2212848"/>
            <a:ext cx="118872" cy="118872"/>
          </a:xfrm>
          <a:prstGeom prst="ellipse">
            <a:avLst/>
          </a:prstGeom>
          <a:solidFill>
            <a:srgbClr val="E0739F"/>
          </a:solidFill>
          <a:ln/>
        </p:spPr>
      </p:sp>
      <p:sp>
        <p:nvSpPr>
          <p:cNvPr id="16" name="Shape 13"/>
          <p:cNvSpPr/>
          <p:nvPr/>
        </p:nvSpPr>
        <p:spPr>
          <a:xfrm>
            <a:off x="6748272" y="2212848"/>
            <a:ext cx="118872" cy="118872"/>
          </a:xfrm>
          <a:prstGeom prst="ellipse">
            <a:avLst/>
          </a:prstGeom>
          <a:solidFill>
            <a:srgbClr val="E8B85F"/>
          </a:solidFill>
          <a:ln/>
        </p:spPr>
      </p:sp>
      <p:sp>
        <p:nvSpPr>
          <p:cNvPr id="17" name="Shape 14"/>
          <p:cNvSpPr/>
          <p:nvPr/>
        </p:nvSpPr>
        <p:spPr>
          <a:xfrm>
            <a:off x="6986016" y="2212848"/>
            <a:ext cx="118872" cy="118872"/>
          </a:xfrm>
          <a:prstGeom prst="ellipse">
            <a:avLst/>
          </a:prstGeom>
          <a:solidFill>
            <a:srgbClr val="9FD8A0"/>
          </a:solidFill>
          <a:ln/>
        </p:spPr>
      </p:sp>
      <p:sp>
        <p:nvSpPr>
          <p:cNvPr id="18" name="Text 15"/>
          <p:cNvSpPr/>
          <p:nvPr/>
        </p:nvSpPr>
        <p:spPr>
          <a:xfrm>
            <a:off x="6537960" y="2487168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ED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</a:t>
            </a:r>
            <a:r>
              <a:rPr lang="en-US" sz="1200" dirty="0">
                <a:solidFill>
                  <a:srgbClr val="9FD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@emotion/react @emotion/styled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48640" y="31089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218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Stitches — przy starcie tworzymy plik konfiguracyjny, w którym definiujemy nasz motyw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48640" y="3456432"/>
            <a:ext cx="11064240" cy="1874520"/>
          </a:xfrm>
          <a:prstGeom prst="rect">
            <a:avLst/>
          </a:prstGeom>
          <a:solidFill>
            <a:srgbClr val="241526"/>
          </a:solidFill>
          <a:ln/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49808" y="3639312"/>
            <a:ext cx="118872" cy="118872"/>
          </a:xfrm>
          <a:prstGeom prst="ellipse">
            <a:avLst/>
          </a:prstGeom>
          <a:solidFill>
            <a:srgbClr val="E0739F"/>
          </a:solidFill>
          <a:ln/>
        </p:spPr>
      </p:sp>
      <p:sp>
        <p:nvSpPr>
          <p:cNvPr id="22" name="Shape 19"/>
          <p:cNvSpPr/>
          <p:nvPr/>
        </p:nvSpPr>
        <p:spPr>
          <a:xfrm>
            <a:off x="987552" y="3639312"/>
            <a:ext cx="118872" cy="118872"/>
          </a:xfrm>
          <a:prstGeom prst="ellipse">
            <a:avLst/>
          </a:prstGeom>
          <a:solidFill>
            <a:srgbClr val="E8B85F"/>
          </a:solidFill>
          <a:ln/>
        </p:spPr>
      </p:sp>
      <p:sp>
        <p:nvSpPr>
          <p:cNvPr id="23" name="Shape 20"/>
          <p:cNvSpPr/>
          <p:nvPr/>
        </p:nvSpPr>
        <p:spPr>
          <a:xfrm>
            <a:off x="1225296" y="3639312"/>
            <a:ext cx="118872" cy="118872"/>
          </a:xfrm>
          <a:prstGeom prst="ellipse">
            <a:avLst/>
          </a:prstGeom>
          <a:solidFill>
            <a:srgbClr val="9FD8A0"/>
          </a:solidFill>
          <a:ln/>
        </p:spPr>
      </p:sp>
      <p:sp>
        <p:nvSpPr>
          <p:cNvPr id="24" name="Text 21"/>
          <p:cNvSpPr/>
          <p:nvPr/>
        </p:nvSpPr>
        <p:spPr>
          <a:xfrm>
            <a:off x="777240" y="3913632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E073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200" dirty="0">
                <a:solidFill>
                  <a:srgbClr val="ED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createStitches } </a:t>
            </a:r>
            <a:r>
              <a:rPr lang="en-US" sz="1200" dirty="0">
                <a:solidFill>
                  <a:srgbClr val="E073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200" dirty="0">
                <a:solidFill>
                  <a:srgbClr val="ED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9FD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'@stitches/react'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E073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const</a:t>
            </a:r>
            <a:r>
              <a:rPr lang="en-US" sz="1200" dirty="0">
                <a:solidFill>
                  <a:srgbClr val="ED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styled, css, theme } = </a:t>
            </a:r>
            <a:r>
              <a:rPr lang="en-US" sz="1200" dirty="0">
                <a:solidFill>
                  <a:srgbClr val="8F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createStitches</a:t>
            </a:r>
            <a:r>
              <a:rPr lang="en-US" sz="1200" dirty="0">
                <a:solidFill>
                  <a:srgbClr val="ED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  </a:t>
            </a:r>
            <a:r>
              <a:rPr lang="en-US" sz="1200" dirty="0">
                <a:solidFill>
                  <a:srgbClr val="8A76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styled i css to nasze narzędzia do tworzenia komponentów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ED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theme: { colors: { primary: </a:t>
            </a:r>
            <a:r>
              <a:rPr lang="en-US" sz="1200" dirty="0">
                <a:solidFill>
                  <a:srgbClr val="9FD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'#C2185B'</a:t>
            </a:r>
            <a:r>
              <a:rPr lang="en-US" sz="1200" dirty="0">
                <a:solidFill>
                  <a:srgbClr val="ED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 }   </a:t>
            </a:r>
            <a:r>
              <a:rPr lang="en-US" sz="1200" dirty="0">
                <a:solidFill>
                  <a:srgbClr val="8A76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motyw: kolory, odstępy, fonty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ED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48640" y="5440680"/>
            <a:ext cx="11064240" cy="822960"/>
          </a:xfrm>
          <a:prstGeom prst="rect">
            <a:avLst/>
          </a:prstGeom>
          <a:solidFill>
            <a:srgbClr val="FBF6F9"/>
          </a:solidFill>
          <a:ln/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548640" y="5440680"/>
            <a:ext cx="91440" cy="822960"/>
          </a:xfrm>
          <a:prstGeom prst="rect">
            <a:avLst/>
          </a:prstGeom>
          <a:solidFill>
            <a:srgbClr val="E0739F"/>
          </a:solidFill>
          <a:ln/>
        </p:spPr>
      </p:sp>
      <p:sp>
        <p:nvSpPr>
          <p:cNvPr id="27" name="Text 24"/>
          <p:cNvSpPr/>
          <p:nvPr/>
        </p:nvSpPr>
        <p:spPr>
          <a:xfrm>
            <a:off x="777240" y="55321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5C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praktyce: w Styled Components i Emotion po instalacji od razu importujemy narzędzia i piszemy komponenty. W Stitches dochodzi jeden krok — najpierw raz tworzymy konfigurację (motyw), a potem korzystamy z gotowych „styled” i „css” w całym projekcie.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5B1E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Pierwszy komponent (przykład 1)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1475720" y="256032"/>
            <a:ext cx="292608" cy="713232"/>
          </a:xfrm>
          <a:prstGeom prst="rect">
            <a:avLst/>
          </a:prstGeom>
          <a:solidFill>
            <a:srgbClr val="C2185B"/>
          </a:solidFill>
          <a:ln/>
        </p:spPr>
      </p:sp>
      <p:sp>
        <p:nvSpPr>
          <p:cNvPr id="4" name="Text 2"/>
          <p:cNvSpPr/>
          <p:nvPr/>
        </p:nvSpPr>
        <p:spPr>
          <a:xfrm>
            <a:off x="10881360" y="329184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073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Tworzymy przycisk ze stylami. Funkcja „styled.button” zwraca gotowy komponent przycisku, który ma już style w środku.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6766560" cy="3246120"/>
          </a:xfrm>
          <a:prstGeom prst="rect">
            <a:avLst/>
          </a:prstGeom>
          <a:solidFill>
            <a:srgbClr val="241526"/>
          </a:solidFill>
          <a:ln/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874520"/>
            <a:ext cx="118872" cy="118872"/>
          </a:xfrm>
          <a:prstGeom prst="ellipse">
            <a:avLst/>
          </a:prstGeom>
          <a:solidFill>
            <a:srgbClr val="E0739F"/>
          </a:solidFill>
          <a:ln/>
        </p:spPr>
      </p:sp>
      <p:sp>
        <p:nvSpPr>
          <p:cNvPr id="8" name="Shape 6"/>
          <p:cNvSpPr/>
          <p:nvPr/>
        </p:nvSpPr>
        <p:spPr>
          <a:xfrm>
            <a:off x="987552" y="1874520"/>
            <a:ext cx="118872" cy="118872"/>
          </a:xfrm>
          <a:prstGeom prst="ellipse">
            <a:avLst/>
          </a:prstGeom>
          <a:solidFill>
            <a:srgbClr val="E8B85F"/>
          </a:solidFill>
          <a:ln/>
        </p:spPr>
      </p:sp>
      <p:sp>
        <p:nvSpPr>
          <p:cNvPr id="9" name="Shape 7"/>
          <p:cNvSpPr/>
          <p:nvPr/>
        </p:nvSpPr>
        <p:spPr>
          <a:xfrm>
            <a:off x="1225296" y="1874520"/>
            <a:ext cx="118872" cy="118872"/>
          </a:xfrm>
          <a:prstGeom prst="ellipse">
            <a:avLst/>
          </a:prstGeom>
          <a:solidFill>
            <a:srgbClr val="9FD8A0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148840"/>
            <a:ext cx="6309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E073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200" dirty="0">
                <a:solidFill>
                  <a:srgbClr val="ED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styled </a:t>
            </a:r>
            <a:r>
              <a:rPr lang="en-US" sz="1200" dirty="0">
                <a:solidFill>
                  <a:srgbClr val="E073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200" dirty="0">
                <a:solidFill>
                  <a:srgbClr val="ED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9FD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'styled-components'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E073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200" dirty="0">
                <a:solidFill>
                  <a:srgbClr val="ED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Button = styled.</a:t>
            </a:r>
            <a:r>
              <a:rPr lang="en-US" sz="1200" dirty="0">
                <a:solidFill>
                  <a:srgbClr val="8F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</a:t>
            </a:r>
            <a:r>
              <a:rPr lang="en-US" sz="1200" dirty="0">
                <a:solidFill>
                  <a:srgbClr val="9FD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</a:t>
            </a:r>
            <a:r>
              <a:rPr lang="en-US" sz="1200" dirty="0">
                <a:solidFill>
                  <a:srgbClr val="ED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r>
              <a:rPr lang="en-US" sz="1200" dirty="0">
                <a:solidFill>
                  <a:srgbClr val="8A76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tworzymy komponent &lt;Button&gt;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ED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padding: </a:t>
            </a:r>
            <a:r>
              <a:rPr lang="en-US" sz="1200" dirty="0">
                <a:solidFill>
                  <a:srgbClr val="9FD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8px 16px</a:t>
            </a:r>
            <a:r>
              <a:rPr lang="en-US" sz="1200" dirty="0">
                <a:solidFill>
                  <a:srgbClr val="ED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ED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background: </a:t>
            </a:r>
            <a:r>
              <a:rPr lang="en-US" sz="1200" dirty="0">
                <a:solidFill>
                  <a:srgbClr val="9FD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#C2185B</a:t>
            </a:r>
            <a:r>
              <a:rPr lang="en-US" sz="1200" dirty="0">
                <a:solidFill>
                  <a:srgbClr val="ED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ED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color: </a:t>
            </a:r>
            <a:r>
              <a:rPr lang="en-US" sz="1200" dirty="0">
                <a:solidFill>
                  <a:srgbClr val="9FD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white</a:t>
            </a:r>
            <a:r>
              <a:rPr lang="en-US" sz="1200" dirty="0">
                <a:solidFill>
                  <a:srgbClr val="ED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ED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border-radius: </a:t>
            </a:r>
            <a:r>
              <a:rPr lang="en-US" sz="1200" dirty="0">
                <a:solidFill>
                  <a:srgbClr val="9FD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6px</a:t>
            </a:r>
            <a:r>
              <a:rPr lang="en-US" sz="1200" dirty="0">
                <a:solidFill>
                  <a:srgbClr val="ED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9FD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`;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8A76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używamy go jak zwykłego elementu HTML: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8F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&lt;Button&gt;</a:t>
            </a:r>
            <a:r>
              <a:rPr lang="en-US" sz="1200" dirty="0">
                <a:solidFill>
                  <a:srgbClr val="ED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Zapisz</a:t>
            </a:r>
            <a:r>
              <a:rPr lang="en-US" sz="1200" dirty="0">
                <a:solidFill>
                  <a:srgbClr val="8F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&lt;/Button&gt;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589520" y="1691640"/>
            <a:ext cx="4023360" cy="3246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818120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218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 tu się dzieje?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818120" y="2286000"/>
            <a:ext cx="3611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300" dirty="0">
                <a:solidFill>
                  <a:srgbClr val="5C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„styled.button” mówi: zrób mi komponent oparty na zwykłym &lt;button&gt;.
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300" dirty="0">
                <a:solidFill>
                  <a:srgbClr val="5C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Między znakami ` ` wpisujemy normalny CSS.
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1300" dirty="0">
                <a:solidFill>
                  <a:srgbClr val="5C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Powstały &lt;Button&gt; używamy w aplikacji tak samo jak zwykły znacznik HTML.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5074920"/>
            <a:ext cx="11064240" cy="868680"/>
          </a:xfrm>
          <a:prstGeom prst="rect">
            <a:avLst/>
          </a:prstGeom>
          <a:solidFill>
            <a:srgbClr val="FBF6F9"/>
          </a:solidFill>
          <a:ln/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5074920"/>
            <a:ext cx="91440" cy="868680"/>
          </a:xfrm>
          <a:prstGeom prst="rect">
            <a:avLst/>
          </a:prstGeom>
          <a:solidFill>
            <a:srgbClr val="E0739F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516636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5C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Efekt: dostajemy różowy przycisk z napisem „Zapisz”. Co ważne — te style działają tylko dla tego przycisku i nie wpłyną na żaden inny element na stronie.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5B1E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Drugi sposób: prop css (przykład 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1475720" y="256032"/>
            <a:ext cx="292608" cy="713232"/>
          </a:xfrm>
          <a:prstGeom prst="rect">
            <a:avLst/>
          </a:prstGeom>
          <a:solidFill>
            <a:srgbClr val="C2185B"/>
          </a:solidFill>
          <a:ln/>
        </p:spPr>
      </p:sp>
      <p:sp>
        <p:nvSpPr>
          <p:cNvPr id="4" name="Text 2"/>
          <p:cNvSpPr/>
          <p:nvPr/>
        </p:nvSpPr>
        <p:spPr>
          <a:xfrm>
            <a:off x="10881360" y="329184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073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daje też drugi sposób — zamiast tworzyć osobny komponent, dopisujemy style wprost do elementu przez specjalny atrybut „css”.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6766560" cy="3108960"/>
          </a:xfrm>
          <a:prstGeom prst="rect">
            <a:avLst/>
          </a:prstGeom>
          <a:solidFill>
            <a:srgbClr val="241526"/>
          </a:solidFill>
          <a:ln/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874520"/>
            <a:ext cx="118872" cy="118872"/>
          </a:xfrm>
          <a:prstGeom prst="ellipse">
            <a:avLst/>
          </a:prstGeom>
          <a:solidFill>
            <a:srgbClr val="E0739F"/>
          </a:solidFill>
          <a:ln/>
        </p:spPr>
      </p:sp>
      <p:sp>
        <p:nvSpPr>
          <p:cNvPr id="8" name="Shape 6"/>
          <p:cNvSpPr/>
          <p:nvPr/>
        </p:nvSpPr>
        <p:spPr>
          <a:xfrm>
            <a:off x="987552" y="1874520"/>
            <a:ext cx="118872" cy="118872"/>
          </a:xfrm>
          <a:prstGeom prst="ellipse">
            <a:avLst/>
          </a:prstGeom>
          <a:solidFill>
            <a:srgbClr val="E8B85F"/>
          </a:solidFill>
          <a:ln/>
        </p:spPr>
      </p:sp>
      <p:sp>
        <p:nvSpPr>
          <p:cNvPr id="9" name="Shape 7"/>
          <p:cNvSpPr/>
          <p:nvPr/>
        </p:nvSpPr>
        <p:spPr>
          <a:xfrm>
            <a:off x="1225296" y="1874520"/>
            <a:ext cx="118872" cy="118872"/>
          </a:xfrm>
          <a:prstGeom prst="ellipse">
            <a:avLst/>
          </a:prstGeom>
          <a:solidFill>
            <a:srgbClr val="9FD8A0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148840"/>
            <a:ext cx="6309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8A76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/** @jsxImportSource @emotion/react */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E073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200" dirty="0">
                <a:solidFill>
                  <a:srgbClr val="ED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css } </a:t>
            </a:r>
            <a:r>
              <a:rPr lang="en-US" sz="1200" dirty="0">
                <a:solidFill>
                  <a:srgbClr val="E073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200" dirty="0">
                <a:solidFill>
                  <a:srgbClr val="ED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9FD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'@emotion/react'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8F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ED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css={</a:t>
            </a:r>
            <a:r>
              <a:rPr lang="en-US" sz="1200" dirty="0">
                <a:solidFill>
                  <a:srgbClr val="8F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css</a:t>
            </a:r>
            <a:r>
              <a:rPr lang="en-US" sz="1200" dirty="0">
                <a:solidFill>
                  <a:srgbClr val="9FD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ED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padding: </a:t>
            </a:r>
            <a:r>
              <a:rPr lang="en-US" sz="1200" dirty="0">
                <a:solidFill>
                  <a:srgbClr val="9FD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8px 16px</a:t>
            </a:r>
            <a:r>
              <a:rPr lang="en-US" sz="1200" dirty="0">
                <a:solidFill>
                  <a:srgbClr val="ED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ED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background: </a:t>
            </a:r>
            <a:r>
              <a:rPr lang="en-US" sz="1200" dirty="0">
                <a:solidFill>
                  <a:srgbClr val="9FD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#C2185B</a:t>
            </a:r>
            <a:r>
              <a:rPr lang="en-US" sz="1200" dirty="0">
                <a:solidFill>
                  <a:srgbClr val="ED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9FD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`}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8F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200" dirty="0">
                <a:solidFill>
                  <a:srgbClr val="ED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Zapisz</a:t>
            </a:r>
            <a:r>
              <a:rPr lang="en-US" sz="1200" dirty="0">
                <a:solidFill>
                  <a:srgbClr val="8F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&lt;/button&gt;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589520" y="1691640"/>
            <a:ext cx="4023360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818120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218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Kiedy którego użyć?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818120" y="2286000"/>
            <a:ext cx="3611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B1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styled </a:t>
            </a:r>
            <a:r>
              <a:rPr lang="en-US" sz="1300" dirty="0">
                <a:solidFill>
                  <a:srgbClr val="5C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gdy dany przycisk czy kartę używamy w wielu miejscach. Tworzymy go raz i wszędzie używamy.
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5B1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 css </a:t>
            </a:r>
            <a:r>
              <a:rPr lang="en-US" sz="1300" dirty="0">
                <a:solidFill>
                  <a:srgbClr val="5C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gdy chcemy szybko dodać style do jednego konkretnego elementu, bez tworzenia osobnego komponentu.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937760"/>
            <a:ext cx="11064240" cy="960120"/>
          </a:xfrm>
          <a:prstGeom prst="rect">
            <a:avLst/>
          </a:prstGeom>
          <a:solidFill>
            <a:srgbClr val="FBF6F9"/>
          </a:solidFill>
          <a:ln/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4937760"/>
            <a:ext cx="91440" cy="960120"/>
          </a:xfrm>
          <a:prstGeom prst="rect">
            <a:avLst/>
          </a:prstGeom>
          <a:solidFill>
            <a:srgbClr val="E0739F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502920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5C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Oba sposoby dają ten sam efekt — różowy przycisk. Oba też generują unikalną klasę CSS w tle, więc nadal nie grozi nam kolizja nazw. Wybór zależy tylko od tego, czy styl chcemy używać wielokrotnie, czy tylko raz.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5B1E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Style zależne od propsów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1475720" y="256032"/>
            <a:ext cx="292608" cy="713232"/>
          </a:xfrm>
          <a:prstGeom prst="rect">
            <a:avLst/>
          </a:prstGeom>
          <a:solidFill>
            <a:srgbClr val="C2185B"/>
          </a:solidFill>
          <a:ln/>
        </p:spPr>
      </p:sp>
      <p:sp>
        <p:nvSpPr>
          <p:cNvPr id="4" name="Text 2"/>
          <p:cNvSpPr/>
          <p:nvPr/>
        </p:nvSpPr>
        <p:spPr>
          <a:xfrm>
            <a:off x="10881360" y="329184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073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972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07899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C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największa zaleta CSS-in-JS: wygląd komponentu może się zmieniać w zależności od przekazanych mu propsów.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1645920"/>
            <a:ext cx="6766560" cy="3611880"/>
          </a:xfrm>
          <a:prstGeom prst="rect">
            <a:avLst/>
          </a:prstGeom>
          <a:solidFill>
            <a:srgbClr val="241526"/>
          </a:solidFill>
          <a:ln/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49808" y="1828800"/>
            <a:ext cx="118872" cy="118872"/>
          </a:xfrm>
          <a:prstGeom prst="ellipse">
            <a:avLst/>
          </a:prstGeom>
          <a:solidFill>
            <a:srgbClr val="E0739F"/>
          </a:solidFill>
          <a:ln/>
        </p:spPr>
      </p:sp>
      <p:sp>
        <p:nvSpPr>
          <p:cNvPr id="9" name="Shape 6"/>
          <p:cNvSpPr/>
          <p:nvPr/>
        </p:nvSpPr>
        <p:spPr>
          <a:xfrm>
            <a:off x="987552" y="1828800"/>
            <a:ext cx="118872" cy="118872"/>
          </a:xfrm>
          <a:prstGeom prst="ellipse">
            <a:avLst/>
          </a:prstGeom>
          <a:solidFill>
            <a:srgbClr val="E8B85F"/>
          </a:solidFill>
          <a:ln/>
        </p:spPr>
      </p:sp>
      <p:sp>
        <p:nvSpPr>
          <p:cNvPr id="10" name="Shape 7"/>
          <p:cNvSpPr/>
          <p:nvPr/>
        </p:nvSpPr>
        <p:spPr>
          <a:xfrm>
            <a:off x="1225296" y="1828800"/>
            <a:ext cx="118872" cy="118872"/>
          </a:xfrm>
          <a:prstGeom prst="ellipse">
            <a:avLst/>
          </a:prstGeom>
          <a:solidFill>
            <a:srgbClr val="9FD8A0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2103120"/>
            <a:ext cx="630936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8A76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$primary to prop, który sami podajemy przyciskowi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E073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200" dirty="0">
                <a:solidFill>
                  <a:srgbClr val="ED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Button = styled.</a:t>
            </a:r>
            <a:r>
              <a:rPr lang="en-US" sz="1200" dirty="0">
                <a:solidFill>
                  <a:srgbClr val="8F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</a:t>
            </a:r>
            <a:r>
              <a:rPr lang="en-US" sz="1200" dirty="0">
                <a:solidFill>
                  <a:srgbClr val="9FD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ED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padding: </a:t>
            </a:r>
            <a:r>
              <a:rPr lang="en-US" sz="1200" dirty="0">
                <a:solidFill>
                  <a:srgbClr val="9FD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8px 16px</a:t>
            </a:r>
            <a:r>
              <a:rPr lang="en-US" sz="1200" dirty="0">
                <a:solidFill>
                  <a:srgbClr val="ED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ED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border: </a:t>
            </a:r>
            <a:r>
              <a:rPr lang="en-US" sz="1200" dirty="0">
                <a:solidFill>
                  <a:srgbClr val="9FD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r>
              <a:rPr lang="en-US" sz="1200" dirty="0">
                <a:solidFill>
                  <a:srgbClr val="ED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ED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background: ${p =&gt; p.$primary ? </a:t>
            </a:r>
            <a:r>
              <a:rPr lang="en-US" sz="1200" dirty="0">
                <a:solidFill>
                  <a:srgbClr val="9FD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'#C2185B'</a:t>
            </a:r>
            <a:r>
              <a:rPr lang="en-US" sz="1200" dirty="0">
                <a:solidFill>
                  <a:srgbClr val="ED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: </a:t>
            </a:r>
            <a:r>
              <a:rPr lang="en-US" sz="1200" dirty="0">
                <a:solidFill>
                  <a:srgbClr val="9FD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'#eee'</a:t>
            </a:r>
            <a:r>
              <a:rPr lang="en-US" sz="1200" dirty="0">
                <a:solidFill>
                  <a:srgbClr val="ED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ED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color: ${p =&gt; p.$primary ? </a:t>
            </a:r>
            <a:r>
              <a:rPr lang="en-US" sz="1200" dirty="0">
                <a:solidFill>
                  <a:srgbClr val="9FD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'#fff'</a:t>
            </a:r>
            <a:r>
              <a:rPr lang="en-US" sz="1200" dirty="0">
                <a:solidFill>
                  <a:srgbClr val="ED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: </a:t>
            </a:r>
            <a:r>
              <a:rPr lang="en-US" sz="1200" dirty="0">
                <a:solidFill>
                  <a:srgbClr val="9FD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'#333'</a:t>
            </a:r>
            <a:r>
              <a:rPr lang="en-US" sz="1200" dirty="0">
                <a:solidFill>
                  <a:srgbClr val="ED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9FD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`;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8F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 $primary&gt;</a:t>
            </a:r>
            <a:r>
              <a:rPr lang="en-US" sz="1200" dirty="0">
                <a:solidFill>
                  <a:srgbClr val="ED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OK</a:t>
            </a:r>
            <a:r>
              <a:rPr lang="en-US" sz="1200" dirty="0">
                <a:solidFill>
                  <a:srgbClr val="8F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&lt;/Button&gt;</a:t>
            </a:r>
            <a:r>
              <a:rPr lang="en-US" sz="1200" dirty="0">
                <a:solidFill>
                  <a:srgbClr val="ED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dirty="0">
                <a:solidFill>
                  <a:srgbClr val="8A76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różowy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8F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&lt;Button&gt;</a:t>
            </a:r>
            <a:r>
              <a:rPr lang="en-US" sz="1200" dirty="0">
                <a:solidFill>
                  <a:srgbClr val="ED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Anuluj</a:t>
            </a:r>
            <a:r>
              <a:rPr lang="en-US" sz="1200" dirty="0">
                <a:solidFill>
                  <a:srgbClr val="8F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&lt;/Button&gt;</a:t>
            </a:r>
            <a:r>
              <a:rPr lang="en-US" sz="1200" dirty="0">
                <a:solidFill>
                  <a:srgbClr val="ED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r>
              <a:rPr lang="en-US" sz="1200" dirty="0">
                <a:solidFill>
                  <a:srgbClr val="8A76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szary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589520" y="1645920"/>
            <a:ext cx="4023360" cy="3611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772400" y="1828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218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Podgląd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732520" y="2468880"/>
            <a:ext cx="1737360" cy="548640"/>
          </a:xfrm>
          <a:prstGeom prst="roundRect">
            <a:avLst>
              <a:gd name="adj" fmla="val 13333"/>
            </a:avLst>
          </a:prstGeom>
          <a:solidFill>
            <a:srgbClr val="C2185B"/>
          </a:solidFill>
          <a:ln/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732520" y="24688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 ($primary)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732520" y="3246120"/>
            <a:ext cx="1737360" cy="548640"/>
          </a:xfrm>
          <a:prstGeom prst="roundRect">
            <a:avLst>
              <a:gd name="adj" fmla="val 13333"/>
            </a:avLst>
          </a:prstGeom>
          <a:solidFill>
            <a:srgbClr val="EEEEEE"/>
          </a:solidFill>
          <a:ln/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8732520" y="32461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Anuluj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7772400" y="39776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C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sam komponent. Gdy podamy $primary — jest różowy. Gdy nie — jest szary.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48640" y="5394960"/>
            <a:ext cx="11064240" cy="914400"/>
          </a:xfrm>
          <a:prstGeom prst="rect">
            <a:avLst/>
          </a:prstGeom>
          <a:solidFill>
            <a:srgbClr val="FBF6F9"/>
          </a:solidFill>
          <a:ln/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48640" y="5394960"/>
            <a:ext cx="91440" cy="914400"/>
          </a:xfrm>
          <a:prstGeom prst="rect">
            <a:avLst/>
          </a:prstGeom>
          <a:solidFill>
            <a:srgbClr val="E0739F"/>
          </a:solidFill>
          <a:ln/>
        </p:spPr>
      </p:sp>
      <p:sp>
        <p:nvSpPr>
          <p:cNvPr id="21" name="Text 18"/>
          <p:cNvSpPr/>
          <p:nvPr/>
        </p:nvSpPr>
        <p:spPr>
          <a:xfrm>
            <a:off x="777240" y="548640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5C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klasycznym CSS musielibyśmy stworzyć dwie osobne klasy i ręcznie decydować, którą podpiąć. Tutaj piszemy jeden komponent, a o jego wyglądzie decyduje prop. Znak $ przed nazwą to konwencja Styled Components — oznacza prop używany tylko do stylowania.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5B1E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Motywy (theming) i ciemny tryb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1475720" y="256032"/>
            <a:ext cx="292608" cy="713232"/>
          </a:xfrm>
          <a:prstGeom prst="rect">
            <a:avLst/>
          </a:prstGeom>
          <a:solidFill>
            <a:srgbClr val="C2185B"/>
          </a:solidFill>
          <a:ln/>
        </p:spPr>
      </p:sp>
      <p:sp>
        <p:nvSpPr>
          <p:cNvPr id="4" name="Text 2"/>
          <p:cNvSpPr/>
          <p:nvPr/>
        </p:nvSpPr>
        <p:spPr>
          <a:xfrm>
            <a:off x="10881360" y="329184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073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972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07899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C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Motyw to wspólny zestaw kolorów, odstępów i czcionek. Definiujemy go raz, a wszystkie komponenty mogą z niego korzystać.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1645920"/>
            <a:ext cx="6766560" cy="3520440"/>
          </a:xfrm>
          <a:prstGeom prst="rect">
            <a:avLst/>
          </a:prstGeom>
          <a:solidFill>
            <a:srgbClr val="241526"/>
          </a:solidFill>
          <a:ln/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49808" y="1828800"/>
            <a:ext cx="118872" cy="118872"/>
          </a:xfrm>
          <a:prstGeom prst="ellipse">
            <a:avLst/>
          </a:prstGeom>
          <a:solidFill>
            <a:srgbClr val="E0739F"/>
          </a:solidFill>
          <a:ln/>
        </p:spPr>
      </p:sp>
      <p:sp>
        <p:nvSpPr>
          <p:cNvPr id="9" name="Shape 6"/>
          <p:cNvSpPr/>
          <p:nvPr/>
        </p:nvSpPr>
        <p:spPr>
          <a:xfrm>
            <a:off x="987552" y="1828800"/>
            <a:ext cx="118872" cy="118872"/>
          </a:xfrm>
          <a:prstGeom prst="ellipse">
            <a:avLst/>
          </a:prstGeom>
          <a:solidFill>
            <a:srgbClr val="E8B85F"/>
          </a:solidFill>
          <a:ln/>
        </p:spPr>
      </p:sp>
      <p:sp>
        <p:nvSpPr>
          <p:cNvPr id="10" name="Shape 7"/>
          <p:cNvSpPr/>
          <p:nvPr/>
        </p:nvSpPr>
        <p:spPr>
          <a:xfrm>
            <a:off x="1225296" y="1828800"/>
            <a:ext cx="118872" cy="118872"/>
          </a:xfrm>
          <a:prstGeom prst="ellipse">
            <a:avLst/>
          </a:prstGeom>
          <a:solidFill>
            <a:srgbClr val="9FD8A0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2103120"/>
            <a:ext cx="63093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E073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200" dirty="0">
                <a:solidFill>
                  <a:srgbClr val="ED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ThemeProvider } </a:t>
            </a:r>
            <a:r>
              <a:rPr lang="en-US" sz="1200" dirty="0">
                <a:solidFill>
                  <a:srgbClr val="E073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200" dirty="0">
                <a:solidFill>
                  <a:srgbClr val="ED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9FD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'styled-components'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8A76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1. definiujemy motyw jako zwykły obiekt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E073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200" dirty="0">
                <a:solidFill>
                  <a:srgbClr val="ED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dark = { bg: </a:t>
            </a:r>
            <a:r>
              <a:rPr lang="en-US" sz="1200" dirty="0">
                <a:solidFill>
                  <a:srgbClr val="9FD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'#241526'</a:t>
            </a:r>
            <a:r>
              <a:rPr lang="en-US" sz="1200" dirty="0">
                <a:solidFill>
                  <a:srgbClr val="ED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text: </a:t>
            </a:r>
            <a:r>
              <a:rPr lang="en-US" sz="1200" dirty="0">
                <a:solidFill>
                  <a:srgbClr val="9FD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'#EDE3EA'</a:t>
            </a:r>
            <a:r>
              <a:rPr lang="en-US" sz="1200" dirty="0">
                <a:solidFill>
                  <a:srgbClr val="ED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};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8A76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2. komponent czyta kolory z motywu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E073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200" dirty="0">
                <a:solidFill>
                  <a:srgbClr val="ED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Card = styled.</a:t>
            </a:r>
            <a:r>
              <a:rPr lang="en-US" sz="1200" dirty="0">
                <a:solidFill>
                  <a:srgbClr val="8F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</a:t>
            </a:r>
            <a:r>
              <a:rPr lang="en-US" sz="1200" dirty="0">
                <a:solidFill>
                  <a:srgbClr val="9FD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</a:t>
            </a:r>
            <a:r>
              <a:rPr lang="en-US" sz="1200" dirty="0">
                <a:solidFill>
                  <a:srgbClr val="ED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background: ${p=&gt;p.theme.bg}</a:t>
            </a:r>
            <a:r>
              <a:rPr lang="en-US" sz="1200" dirty="0">
                <a:solidFill>
                  <a:srgbClr val="9FD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`;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589520" y="1645920"/>
            <a:ext cx="4023360" cy="3520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818120" y="1828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218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 co to?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818120" y="2240280"/>
            <a:ext cx="3611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C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Kolory definiujemy w jednym miejscu. Gdy klient powie „zmieńmy główny kolor”, poprawiamy go raz w motywie — a zmiana obejmie całą aplikację.
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5C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Ciemny tryb to po prostu drugi motyw. Podmieniamy obiekt z kolorami i cała strona zmienia wygląd.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48640" y="5303520"/>
            <a:ext cx="11064240" cy="1005840"/>
          </a:xfrm>
          <a:prstGeom prst="rect">
            <a:avLst/>
          </a:prstGeom>
          <a:solidFill>
            <a:srgbClr val="241526"/>
          </a:solidFill>
          <a:ln/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49808" y="5486400"/>
            <a:ext cx="118872" cy="118872"/>
          </a:xfrm>
          <a:prstGeom prst="ellipse">
            <a:avLst/>
          </a:prstGeom>
          <a:solidFill>
            <a:srgbClr val="E0739F"/>
          </a:solidFill>
          <a:ln/>
        </p:spPr>
      </p:sp>
      <p:sp>
        <p:nvSpPr>
          <p:cNvPr id="17" name="Shape 14"/>
          <p:cNvSpPr/>
          <p:nvPr/>
        </p:nvSpPr>
        <p:spPr>
          <a:xfrm>
            <a:off x="987552" y="5486400"/>
            <a:ext cx="118872" cy="118872"/>
          </a:xfrm>
          <a:prstGeom prst="ellipse">
            <a:avLst/>
          </a:prstGeom>
          <a:solidFill>
            <a:srgbClr val="E8B85F"/>
          </a:solidFill>
          <a:ln/>
        </p:spPr>
      </p:sp>
      <p:sp>
        <p:nvSpPr>
          <p:cNvPr id="18" name="Shape 15"/>
          <p:cNvSpPr/>
          <p:nvPr/>
        </p:nvSpPr>
        <p:spPr>
          <a:xfrm>
            <a:off x="1225296" y="5486400"/>
            <a:ext cx="118872" cy="118872"/>
          </a:xfrm>
          <a:prstGeom prst="ellipse">
            <a:avLst/>
          </a:prstGeom>
          <a:solidFill>
            <a:srgbClr val="9FD8A0"/>
          </a:solidFill>
          <a:ln/>
        </p:spPr>
      </p:sp>
      <p:sp>
        <p:nvSpPr>
          <p:cNvPr id="19" name="Text 16"/>
          <p:cNvSpPr/>
          <p:nvPr/>
        </p:nvSpPr>
        <p:spPr>
          <a:xfrm>
            <a:off x="777240" y="57607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8A76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3. owijamy aplikację — od teraz każdy komponent w środku zna motyw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8F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&lt;ThemeProvider</a:t>
            </a:r>
            <a:r>
              <a:rPr lang="en-US" sz="1200" dirty="0">
                <a:solidFill>
                  <a:srgbClr val="ED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theme={dark}&gt;  &lt;Card&gt;Treść w ciemnym motywie&lt;/Card&gt;  </a:t>
            </a:r>
            <a:r>
              <a:rPr lang="en-US" sz="1200" dirty="0">
                <a:solidFill>
                  <a:srgbClr val="8F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&lt;/ThemeProvider&gt;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5B1E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Funkcja zaawansowana: warianty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1475720" y="256032"/>
            <a:ext cx="292608" cy="713232"/>
          </a:xfrm>
          <a:prstGeom prst="rect">
            <a:avLst/>
          </a:prstGeom>
          <a:solidFill>
            <a:srgbClr val="C2185B"/>
          </a:solidFill>
          <a:ln/>
        </p:spPr>
      </p:sp>
      <p:sp>
        <p:nvSpPr>
          <p:cNvPr id="4" name="Text 2"/>
          <p:cNvSpPr/>
          <p:nvPr/>
        </p:nvSpPr>
        <p:spPr>
          <a:xfrm>
            <a:off x="10881360" y="329184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073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Warianty to gotowe „wersje” komponentu (np. mały / duży, główny / drugorzędny). To mocna strona biblioteki Stitches.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6766560" cy="3383280"/>
          </a:xfrm>
          <a:prstGeom prst="rect">
            <a:avLst/>
          </a:prstGeom>
          <a:solidFill>
            <a:srgbClr val="241526"/>
          </a:solidFill>
          <a:ln/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874520"/>
            <a:ext cx="118872" cy="118872"/>
          </a:xfrm>
          <a:prstGeom prst="ellipse">
            <a:avLst/>
          </a:prstGeom>
          <a:solidFill>
            <a:srgbClr val="E0739F"/>
          </a:solidFill>
          <a:ln/>
        </p:spPr>
      </p:sp>
      <p:sp>
        <p:nvSpPr>
          <p:cNvPr id="8" name="Shape 6"/>
          <p:cNvSpPr/>
          <p:nvPr/>
        </p:nvSpPr>
        <p:spPr>
          <a:xfrm>
            <a:off x="987552" y="1874520"/>
            <a:ext cx="118872" cy="118872"/>
          </a:xfrm>
          <a:prstGeom prst="ellipse">
            <a:avLst/>
          </a:prstGeom>
          <a:solidFill>
            <a:srgbClr val="E8B85F"/>
          </a:solidFill>
          <a:ln/>
        </p:spPr>
      </p:sp>
      <p:sp>
        <p:nvSpPr>
          <p:cNvPr id="9" name="Shape 7"/>
          <p:cNvSpPr/>
          <p:nvPr/>
        </p:nvSpPr>
        <p:spPr>
          <a:xfrm>
            <a:off x="1225296" y="1874520"/>
            <a:ext cx="118872" cy="118872"/>
          </a:xfrm>
          <a:prstGeom prst="ellipse">
            <a:avLst/>
          </a:prstGeom>
          <a:solidFill>
            <a:srgbClr val="9FD8A0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148840"/>
            <a:ext cx="6309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E073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200" dirty="0">
                <a:solidFill>
                  <a:srgbClr val="ED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Button = </a:t>
            </a:r>
            <a:r>
              <a:rPr lang="en-US" sz="1200" dirty="0">
                <a:solidFill>
                  <a:srgbClr val="8F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styled</a:t>
            </a:r>
            <a:r>
              <a:rPr lang="en-US" sz="1200" dirty="0">
                <a:solidFill>
                  <a:srgbClr val="ED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9FD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'button'</a:t>
            </a:r>
            <a:r>
              <a:rPr lang="en-US" sz="1200" dirty="0">
                <a:solidFill>
                  <a:srgbClr val="ED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{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ED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borderRadius: </a:t>
            </a:r>
            <a:r>
              <a:rPr lang="en-US" sz="1200" dirty="0">
                <a:solidFill>
                  <a:srgbClr val="9FD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'6px'</a:t>
            </a:r>
            <a:r>
              <a:rPr lang="en-US" sz="1200" dirty="0">
                <a:solidFill>
                  <a:srgbClr val="ED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ED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variants: {        </a:t>
            </a:r>
            <a:r>
              <a:rPr lang="en-US" sz="1200" dirty="0">
                <a:solidFill>
                  <a:srgbClr val="8A76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definiujemy dostępne wersje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ED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size: {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ED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sm: { padding: </a:t>
            </a:r>
            <a:r>
              <a:rPr lang="en-US" sz="1200" dirty="0">
                <a:solidFill>
                  <a:srgbClr val="9FD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'4px 8px'</a:t>
            </a:r>
            <a:r>
              <a:rPr lang="en-US" sz="1200" dirty="0">
                <a:solidFill>
                  <a:srgbClr val="ED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},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ED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lg: { padding: </a:t>
            </a:r>
            <a:r>
              <a:rPr lang="en-US" sz="1200" dirty="0">
                <a:solidFill>
                  <a:srgbClr val="9FD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'12px 24px'</a:t>
            </a:r>
            <a:r>
              <a:rPr lang="en-US" sz="1200" dirty="0">
                <a:solidFill>
                  <a:srgbClr val="ED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},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ED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ED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ED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8F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 size=</a:t>
            </a:r>
            <a:r>
              <a:rPr lang="en-US" sz="1200" dirty="0">
                <a:solidFill>
                  <a:srgbClr val="9FD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'lg'</a:t>
            </a:r>
            <a:r>
              <a:rPr lang="en-US" sz="1200" dirty="0">
                <a:solidFill>
                  <a:srgbClr val="8F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&gt;Duży przycisk&lt;/Button&gt;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589520" y="1691640"/>
            <a:ext cx="402336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818120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218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Dlaczego to wygodne?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818120" y="2286000"/>
            <a:ext cx="3611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C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Definiujemy wersje raz, a potem wybieramy je prościutko: </a:t>
            </a:r>
            <a:r>
              <a:rPr lang="en-US" sz="1250" dirty="0">
                <a:solidFill>
                  <a:srgbClr val="5B1E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size='lg'</a:t>
            </a: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
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5C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musimy pisać warunków „if”. Edytor podpowie nam dostępne opcje, więc trudniej o pomyłkę.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5212080"/>
            <a:ext cx="11064240" cy="914400"/>
          </a:xfrm>
          <a:prstGeom prst="rect">
            <a:avLst/>
          </a:prstGeom>
          <a:solidFill>
            <a:srgbClr val="FBF6F9"/>
          </a:solidFill>
          <a:ln/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5212080"/>
            <a:ext cx="91440" cy="914400"/>
          </a:xfrm>
          <a:prstGeom prst="rect">
            <a:avLst/>
          </a:prstGeom>
          <a:solidFill>
            <a:srgbClr val="E0739F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530352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5C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Krótko: zamiast za każdym razem kombinować ze stylami, mamy gotowy „katalog” wersji komponentu i tylko wybieramy potrzebną. To czytelniejsze i bezpieczniejsze, zwłaszcza w większym zespole.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5B1E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Wydajność i działanie na serwerze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1475720" y="256032"/>
            <a:ext cx="292608" cy="713232"/>
          </a:xfrm>
          <a:prstGeom prst="rect">
            <a:avLst/>
          </a:prstGeom>
          <a:solidFill>
            <a:srgbClr val="C2185B"/>
          </a:solidFill>
          <a:ln/>
        </p:spPr>
      </p:sp>
      <p:sp>
        <p:nvSpPr>
          <p:cNvPr id="4" name="Text 2"/>
          <p:cNvSpPr/>
          <p:nvPr/>
        </p:nvSpPr>
        <p:spPr>
          <a:xfrm>
            <a:off x="10881360" y="329184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073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C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Dwa pojęcia, które warto znać przy porównywaniu tych bibliotek: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486400" cy="4206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74520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8745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B1E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Runtime vs zero-runtime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77240" y="2423160"/>
            <a:ext cx="4937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</a:t>
            </a:r>
            <a:r>
              <a:rPr lang="en-US" sz="1350" dirty="0">
                <a:solidFill>
                  <a:srgbClr val="5C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(Styled Components, Emotion): style są wyliczane w przeglądarce, gdy strona już działa. Wygodne, ale przy bardzo dużych aplikacjach kosztuje to trochę wydajności.
</a:t>
            </a:r>
            <a:endParaRPr lang="en-US" sz="1350" dirty="0"/>
          </a:p>
          <a:p>
            <a:pPr marL="0" indent="0" algn="l">
              <a:buNone/>
            </a:pPr>
            <a:r>
              <a:rPr lang="en-US" sz="135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Zero-runtime </a:t>
            </a:r>
            <a:r>
              <a:rPr lang="en-US" sz="1350" dirty="0">
                <a:solidFill>
                  <a:srgbClr val="5C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(Stitches): większość stylów jest przygotowana wcześniej, przy budowaniu aplikacji. Przeglądarka ma mniej pracy, więc działa szybciej.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263640" y="1645920"/>
            <a:ext cx="5349240" cy="4206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874520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95160" y="18745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B1E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SSR — renderowanie na serwerze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492240" y="2423160"/>
            <a:ext cx="4892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5C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 oznacza, że gotowa strona (wraz ze stylami) jest tworzona na serwerze i wysyłana do przeglądarki już ostylowana.
</a:t>
            </a:r>
            <a:endParaRPr lang="en-US" sz="1350" dirty="0"/>
          </a:p>
          <a:p>
            <a:pPr marL="0" indent="0" algn="l">
              <a:buNone/>
            </a:pPr>
            <a:r>
              <a:rPr lang="en-US" sz="135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co? </a:t>
            </a:r>
            <a:r>
              <a:rPr lang="en-US" sz="1350" dirty="0">
                <a:solidFill>
                  <a:srgbClr val="5C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Strona pojawia się szybciej i nie widać „przeskoku”, gdy style doczytują się z opóźnieniem (tzw. miganie strony).
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5C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Wszystkie trzy biblioteki wspierają SSR, choć konfiguruje się je nieco inaczej.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5B1E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Wady i ograniczenia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1475720" y="256032"/>
            <a:ext cx="292608" cy="713232"/>
          </a:xfrm>
          <a:prstGeom prst="rect">
            <a:avLst/>
          </a:prstGeom>
          <a:solidFill>
            <a:srgbClr val="C2185B"/>
          </a:solidFill>
          <a:ln/>
        </p:spPr>
      </p:sp>
      <p:sp>
        <p:nvSpPr>
          <p:cNvPr id="4" name="Text 2"/>
          <p:cNvSpPr/>
          <p:nvPr/>
        </p:nvSpPr>
        <p:spPr>
          <a:xfrm>
            <a:off x="10881360" y="329184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073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972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07899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C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CSS-in-JS to nie złoty środek. Ma realne minusy, a w ostatnich latach ekosystem React zmienił kierunek.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548640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" y="1691640"/>
            <a:ext cx="91440" cy="1325880"/>
          </a:xfrm>
          <a:prstGeom prst="rect">
            <a:avLst/>
          </a:prstGeom>
          <a:solidFill>
            <a:srgbClr val="C2185B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1783080"/>
            <a:ext cx="5074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A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Kosztuje wydajność
</a:t>
            </a:r>
            <a:endParaRPr lang="en-US" sz="140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5C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Wyliczanie stylów w przeglądarce (runtime) obciąża aplikację. Przy dużych projektach bywa to odczuwalne.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3154680"/>
            <a:ext cx="548640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48640" y="3154680"/>
            <a:ext cx="91440" cy="1325880"/>
          </a:xfrm>
          <a:prstGeom prst="rect">
            <a:avLst/>
          </a:prstGeom>
          <a:solidFill>
            <a:srgbClr val="C2185B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3246120"/>
            <a:ext cx="5074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A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z nowym Reactem
</a:t>
            </a:r>
            <a:endParaRPr lang="en-US" sz="140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5C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poszedł w stronę tzw. Server Components. Klasyczne CSS-in-JS słabo z nimi współpracuje.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48640" y="4617720"/>
            <a:ext cx="548640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48640" y="4617720"/>
            <a:ext cx="91440" cy="1325880"/>
          </a:xfrm>
          <a:prstGeom prst="rect">
            <a:avLst/>
          </a:prstGeom>
          <a:solidFill>
            <a:srgbClr val="C2185B"/>
          </a:solidFill>
          <a:ln/>
        </p:spPr>
      </p:sp>
      <p:sp>
        <p:nvSpPr>
          <p:cNvPr id="15" name="Text 12"/>
          <p:cNvSpPr/>
          <p:nvPr/>
        </p:nvSpPr>
        <p:spPr>
          <a:xfrm>
            <a:off x="777240" y="4709160"/>
            <a:ext cx="5074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A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Większa paczka do pobrania
</a:t>
            </a:r>
            <a:endParaRPr lang="en-US" sz="140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5C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Biblioteka plus style zapisane w JavaScripcie powiększają rozmiar pliku, który pobiera użytkownik.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263640" y="1691640"/>
            <a:ext cx="5349240" cy="4206240"/>
          </a:xfrm>
          <a:prstGeom prst="rect">
            <a:avLst/>
          </a:prstGeom>
          <a:solidFill>
            <a:srgbClr val="5B1E4F"/>
          </a:solidFill>
          <a:ln/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492240" y="18745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Status projektów (2025)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492240" y="22860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E5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ważne przy wyborze — czy biblioteka jest jeszcze rozwijana: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492240" y="2935224"/>
            <a:ext cx="164592" cy="164592"/>
          </a:xfrm>
          <a:prstGeom prst="ellipse">
            <a:avLst/>
          </a:prstGeom>
          <a:solidFill>
            <a:srgbClr val="E8B85F"/>
          </a:solidFill>
          <a:ln/>
        </p:spPr>
      </p:sp>
      <p:sp>
        <p:nvSpPr>
          <p:cNvPr id="20" name="Text 17"/>
          <p:cNvSpPr/>
          <p:nvPr/>
        </p:nvSpPr>
        <p:spPr>
          <a:xfrm>
            <a:off x="6766560" y="2834640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Styled Components</a:t>
            </a:r>
            <a:endParaRPr lang="en-US" sz="135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5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 2024 w trybie maintenance — dostaje tylko poprawki błędów, bez nowych funkcji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6492240" y="3959352"/>
            <a:ext cx="164592" cy="164592"/>
          </a:xfrm>
          <a:prstGeom prst="ellipse">
            <a:avLst/>
          </a:prstGeom>
          <a:solidFill>
            <a:srgbClr val="E0739F"/>
          </a:solidFill>
          <a:ln/>
        </p:spPr>
      </p:sp>
      <p:sp>
        <p:nvSpPr>
          <p:cNvPr id="22" name="Text 19"/>
          <p:cNvSpPr/>
          <p:nvPr/>
        </p:nvSpPr>
        <p:spPr>
          <a:xfrm>
            <a:off x="6766560" y="3858768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Stitches</a:t>
            </a:r>
            <a:endParaRPr lang="en-US" sz="135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5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nierozwijana od 2023 — nie nadąża za nowymi wersjami Reacta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492240" y="4983480"/>
            <a:ext cx="164592" cy="164592"/>
          </a:xfrm>
          <a:prstGeom prst="ellipse">
            <a:avLst/>
          </a:prstGeom>
          <a:solidFill>
            <a:srgbClr val="9FD8A0"/>
          </a:solidFill>
          <a:ln/>
        </p:spPr>
      </p:sp>
      <p:sp>
        <p:nvSpPr>
          <p:cNvPr id="24" name="Text 21"/>
          <p:cNvSpPr/>
          <p:nvPr/>
        </p:nvSpPr>
        <p:spPr>
          <a:xfrm>
            <a:off x="6766560" y="4882896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</a:t>
            </a:r>
            <a:endParaRPr lang="en-US" sz="135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5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wciąż utrzymywana, ale ma trudności z nowym modelem Server Components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5B1E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Kiedy używać, a kiedy nie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1475720" y="256032"/>
            <a:ext cx="292608" cy="713232"/>
          </a:xfrm>
          <a:prstGeom prst="rect">
            <a:avLst/>
          </a:prstGeom>
          <a:solidFill>
            <a:srgbClr val="C2185B"/>
          </a:solidFill>
          <a:ln/>
        </p:spPr>
      </p:sp>
      <p:sp>
        <p:nvSpPr>
          <p:cNvPr id="4" name="Text 2"/>
          <p:cNvSpPr/>
          <p:nvPr/>
        </p:nvSpPr>
        <p:spPr>
          <a:xfrm>
            <a:off x="10881360" y="329184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073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5486400" cy="4663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508760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5087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F9E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Sięgamy po CSS-in-JS, gdy…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2103120"/>
            <a:ext cx="49377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300"/>
              </a:spcAft>
              <a:buSzPct val="100000"/>
              <a:buChar char="✓"/>
            </a:pPr>
            <a:r>
              <a:rPr lang="en-US" sz="1350" dirty="0">
                <a:solidFill>
                  <a:srgbClr val="2A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aplikacja działa głównie w przeglądarce (np. projekt na Vite, Create React App)</a:t>
            </a:r>
            <a:endParaRPr lang="en-US" sz="1350" dirty="0"/>
          </a:p>
          <a:p>
            <a:pPr marL="342900" indent="-342900" algn="l">
              <a:spcAft>
                <a:spcPts val="1300"/>
              </a:spcAft>
              <a:buSzPct val="100000"/>
              <a:buChar char="✓"/>
            </a:pPr>
            <a:r>
              <a:rPr lang="en-US" sz="1350" dirty="0">
                <a:solidFill>
                  <a:srgbClr val="2A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wygląd komponentów mocno zależy od ich stanu i propsów</a:t>
            </a:r>
            <a:endParaRPr lang="en-US" sz="1350" dirty="0"/>
          </a:p>
          <a:p>
            <a:pPr marL="342900" indent="-342900" algn="l">
              <a:spcAft>
                <a:spcPts val="1300"/>
              </a:spcAft>
              <a:buSzPct val="100000"/>
              <a:buChar char="✓"/>
            </a:pPr>
            <a:r>
              <a:rPr lang="en-US" sz="1350" dirty="0">
                <a:solidFill>
                  <a:srgbClr val="2A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zależy nam na motywach i szybkim prototypowaniu</a:t>
            </a:r>
            <a:endParaRPr lang="en-US" sz="1350" dirty="0"/>
          </a:p>
          <a:p>
            <a:pPr marL="342900" indent="-342900" algn="l">
              <a:spcAft>
                <a:spcPts val="1300"/>
              </a:spcAft>
              <a:buSzPct val="100000"/>
              <a:buChar char="✓"/>
            </a:pPr>
            <a:r>
              <a:rPr lang="en-US" sz="1350" dirty="0">
                <a:solidFill>
                  <a:srgbClr val="2A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zespół już zna daną bibliotekę i ma gotowy, działający projekt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263640" y="1280160"/>
            <a:ext cx="5349240" cy="4663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508760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95160" y="15087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Wybieramy coś innego, gdy…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675120" y="210312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300"/>
              </a:spcAft>
              <a:buSzPct val="100000"/>
              <a:buChar char="✗"/>
            </a:pPr>
            <a:r>
              <a:rPr lang="en-US" sz="1350" dirty="0">
                <a:solidFill>
                  <a:srgbClr val="2A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 opiera się na nowym Next.js (App Router) i Server Components</a:t>
            </a:r>
            <a:endParaRPr lang="en-US" sz="1350" dirty="0"/>
          </a:p>
          <a:p>
            <a:pPr marL="342900" indent="-342900" algn="l">
              <a:spcAft>
                <a:spcPts val="1300"/>
              </a:spcAft>
              <a:buSzPct val="100000"/>
              <a:buChar char="✗"/>
            </a:pPr>
            <a:r>
              <a:rPr lang="en-US" sz="1350" dirty="0">
                <a:solidFill>
                  <a:srgbClr val="2A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wydajność i mały rozmiar aplikacji są dla nas najważniejsze</a:t>
            </a:r>
            <a:endParaRPr lang="en-US" sz="1350" dirty="0"/>
          </a:p>
          <a:p>
            <a:pPr marL="342900" indent="-342900" algn="l">
              <a:spcAft>
                <a:spcPts val="1300"/>
              </a:spcAft>
              <a:buSzPct val="100000"/>
              <a:buChar char="✗"/>
            </a:pPr>
            <a:r>
              <a:rPr lang="en-US" sz="1350" dirty="0">
                <a:solidFill>
                  <a:srgbClr val="2A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zaczynamy zupełnie nowy projekt w 202</a:t>
            </a:r>
            <a:r>
              <a:rPr lang="pl-PL" sz="1350" dirty="0">
                <a:solidFill>
                  <a:srgbClr val="2A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1350" dirty="0">
                <a:solidFill>
                  <a:srgbClr val="2A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 chcemy postawić na przyszłość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675120" y="457200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Czym je wtedy zastąpić?
</a:t>
            </a:r>
            <a:endParaRPr lang="en-US" sz="130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5C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CSS, CSS Modules, vanilla-extract — to nowsze podejścia bez kosztu działania w przeglądarce.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5B1E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Dobre praktyki na koniec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1475720" y="256032"/>
            <a:ext cx="292608" cy="713232"/>
          </a:xfrm>
          <a:prstGeom prst="rect">
            <a:avLst/>
          </a:prstGeom>
          <a:solidFill>
            <a:srgbClr val="C2185B"/>
          </a:solidFill>
          <a:ln/>
        </p:spPr>
      </p:sp>
      <p:sp>
        <p:nvSpPr>
          <p:cNvPr id="4" name="Text 2"/>
          <p:cNvSpPr/>
          <p:nvPr/>
        </p:nvSpPr>
        <p:spPr>
          <a:xfrm>
            <a:off x="10881360" y="329184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073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48640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rgbClr val="F7F2F5"/>
          </a:solidFill>
          <a:ln w="15240">
            <a:solidFill>
              <a:srgbClr val="E0739F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1856232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173736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5B1E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Trzymaj kolory w motywie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645920" y="2286000"/>
            <a:ext cx="4160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C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Kolory, odstępy i czcionki zapisujemy w jednym motywie — nie wpisujemy ich na sztywno w każdym komponencie.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583680" y="1417320"/>
            <a:ext cx="548640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858000" y="1737360"/>
            <a:ext cx="640080" cy="640080"/>
          </a:xfrm>
          <a:prstGeom prst="ellipse">
            <a:avLst/>
          </a:prstGeom>
          <a:solidFill>
            <a:srgbClr val="F7F2F5"/>
          </a:solidFill>
          <a:ln w="15240">
            <a:solidFill>
              <a:srgbClr val="E0739F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6872" y="1856232"/>
            <a:ext cx="402336" cy="40233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80960" y="173736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5B1E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Składaj małe komponenty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680960" y="2286000"/>
            <a:ext cx="4160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C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Lepiej budować małe, proste komponenty i je łączyć, niż powielać te same style w wielu miejscach.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48640" y="3886200"/>
            <a:ext cx="548640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2960" y="4206240"/>
            <a:ext cx="640080" cy="640080"/>
          </a:xfrm>
          <a:prstGeom prst="ellipse">
            <a:avLst/>
          </a:prstGeom>
          <a:solidFill>
            <a:srgbClr val="F7F2F5"/>
          </a:solidFill>
          <a:ln w="15240">
            <a:solidFill>
              <a:srgbClr val="E0739F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832" y="4325112"/>
            <a:ext cx="402336" cy="40233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45920" y="42062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5B1E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Łącz z TypeScriptem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645920" y="4754880"/>
            <a:ext cx="4160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C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Gdy typujemy propsy i motyw, edytor sam podpowiada wartości i wyłapuje błędy, zanim uruchomimy stronę.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583680" y="3886200"/>
            <a:ext cx="548640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858000" y="4206240"/>
            <a:ext cx="640080" cy="640080"/>
          </a:xfrm>
          <a:prstGeom prst="ellipse">
            <a:avLst/>
          </a:prstGeom>
          <a:solidFill>
            <a:srgbClr val="F7F2F5"/>
          </a:solidFill>
          <a:ln w="15240">
            <a:solidFill>
              <a:srgbClr val="E0739F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76872" y="4325112"/>
            <a:ext cx="402336" cy="40233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680960" y="42062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5B1E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Twórz styled poza komponentem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7680960" y="4754880"/>
            <a:ext cx="4160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C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Komponenty styled definiujemy na górze pliku, a nie w środku innego komponentu — inaczej strona zwalnia.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5B1E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94360" cy="6858000"/>
          </a:xfrm>
          <a:prstGeom prst="rect">
            <a:avLst/>
          </a:prstGeom>
          <a:solidFill>
            <a:srgbClr val="C2185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5029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Podsumowanie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1005840" y="129844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073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Trzy rzeczy, które warto zapamiętać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88720" y="1965960"/>
            <a:ext cx="10241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F0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CSS-in-JS pozwala pisać style razem z komponentem, daje unikalne klasy (koniec z kolizjami) i style zależne od propsów.</a:t>
            </a:r>
            <a:endParaRPr lang="en-US" sz="1550" dirty="0"/>
          </a:p>
          <a:p>
            <a:pPr marL="342900" indent="-342900" algn="l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F0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Styled Components i Emotion to klasyka działająca w przeglądarce; Stitches stawiał na wydajność i wygodne warianty.</a:t>
            </a:r>
            <a:endParaRPr lang="en-US" sz="1550" dirty="0"/>
          </a:p>
          <a:p>
            <a:pPr marL="342900" indent="-342900" algn="l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F0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Ekosystem React zmienił kierunek — dziś tylko Emotion jest aktywnie rozwijany, a do nowych projektów częściej wybiera się inne narzędzia.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1188720" y="4434840"/>
            <a:ext cx="9875520" cy="1783080"/>
          </a:xfrm>
          <a:prstGeom prst="rect">
            <a:avLst/>
          </a:prstGeom>
          <a:solidFill>
            <a:srgbClr val="7A2A6B"/>
          </a:solidFill>
          <a:ln/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88720" y="4434840"/>
            <a:ext cx="109728" cy="1783080"/>
          </a:xfrm>
          <a:prstGeom prst="rect">
            <a:avLst/>
          </a:prstGeom>
          <a:solidFill>
            <a:srgbClr val="E0739F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466344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011680" y="4645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Moja rekomendacja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2011680" y="5120640"/>
            <a:ext cx="8778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F0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istniejących projektów działających w przeglądarce —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</a:t>
            </a:r>
            <a:r>
              <a:rPr lang="en-US" sz="1400" dirty="0">
                <a:solidFill>
                  <a:srgbClr val="F0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(najbezpieczniejszy wybór, bo wciąż utrzymywany). Do nowych projektów, zwłaszcza na Next.js — warto rozważyć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lub CSS Modules</a:t>
            </a:r>
            <a:r>
              <a:rPr lang="en-US" sz="1400" dirty="0">
                <a:solidFill>
                  <a:srgbClr val="F0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które nie obciążają przeglądarki.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4212</Words>
  <Application>Microsoft Office PowerPoint</Application>
  <PresentationFormat>Panoramiczny</PresentationFormat>
  <Paragraphs>230</Paragraphs>
  <Slides>15</Slides>
  <Notes>15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15</vt:i4>
      </vt:variant>
    </vt:vector>
  </HeadingPairs>
  <TitlesOfParts>
    <vt:vector size="20" baseType="lpstr">
      <vt:lpstr>Arial</vt:lpstr>
      <vt:lpstr>Calibri</vt:lpstr>
      <vt:lpstr>Consolas</vt:lpstr>
      <vt:lpstr>Trebuchet MS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CSS-in-JS — Styled Components, Emotion, Stitches</dc:title>
  <dc:subject>PptxGenJS Presentation</dc:subject>
  <dc:creator>[Imię Nazwisko]</dc:creator>
  <cp:lastModifiedBy>Kacper Rodzaj</cp:lastModifiedBy>
  <cp:revision>2</cp:revision>
  <dcterms:created xsi:type="dcterms:W3CDTF">2026-05-22T10:56:45Z</dcterms:created>
  <dcterms:modified xsi:type="dcterms:W3CDTF">2026-05-22T11:10:38Z</dcterms:modified>
</cp:coreProperties>
</file>